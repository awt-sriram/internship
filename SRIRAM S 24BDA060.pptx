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Libre Baskerville" panose="020B0604020202020204" charset="0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82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-11110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962750"/>
            <a:ext cx="2485130" cy="532800"/>
            <a:chOff x="0" y="0"/>
            <a:chExt cx="3313506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313430" cy="710438"/>
            </a:xfrm>
            <a:custGeom>
              <a:avLst/>
              <a:gdLst/>
              <a:ahLst/>
              <a:cxnLst/>
              <a:rect l="l" t="t" r="r" b="b"/>
              <a:pathLst>
                <a:path w="3313430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3268091" y="0"/>
                  </a:lnTo>
                  <a:cubicBezTo>
                    <a:pt x="3293110" y="0"/>
                    <a:pt x="3313430" y="20320"/>
                    <a:pt x="3313430" y="45339"/>
                  </a:cubicBezTo>
                  <a:lnTo>
                    <a:pt x="3313430" y="665099"/>
                  </a:lnTo>
                  <a:cubicBezTo>
                    <a:pt x="3313430" y="690118"/>
                    <a:pt x="3293110" y="710438"/>
                    <a:pt x="3268091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6F5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981048"/>
            <a:ext cx="3059306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INTERNSHIP REVIEW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89159" y="1981048"/>
            <a:ext cx="4864294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03CCF"/>
                </a:solidFill>
                <a:latin typeface="Open Sans"/>
                <a:ea typeface="Open Sans"/>
                <a:cs typeface="Open Sans"/>
                <a:sym typeface="Open Sans"/>
              </a:rPr>
              <a:t>DATA ANALYTICS &amp; BI ARCHITECTURE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2580380"/>
            <a:ext cx="16303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Study on Data Analytics Pipeline Logistics &amp; BI Architecture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691805"/>
            <a:ext cx="17217923" cy="68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2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Internship Report by SRIRAM S — Department of Computer Science with Data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06205"/>
            <a:ext cx="172179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PSG College of Arts &amp; Science (Autonomous), Coimbatore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8" y="6535341"/>
            <a:ext cx="16303523" cy="38100"/>
            <a:chOff x="0" y="0"/>
            <a:chExt cx="21738031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738082" cy="50800"/>
            </a:xfrm>
            <a:custGeom>
              <a:avLst/>
              <a:gdLst/>
              <a:ahLst/>
              <a:cxnLst/>
              <a:rect l="l" t="t" r="r" b="b"/>
              <a:pathLst>
                <a:path w="21738082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49495A">
                <a:alpha val="24706"/>
              </a:srgbClr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992238" y="6819900"/>
            <a:ext cx="16303523" cy="413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dirty="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Guide: Dr R Saranya MCA,PH.D.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839391"/>
            <a:ext cx="4236987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Chapter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344806"/>
            <a:ext cx="9776517" cy="849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Introduction &amp; 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501503"/>
            <a:ext cx="16303523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Enterprise data growth demands structured pipelines spanning ingestion, cleaning, processing, and reporting. This internship was designed to build full-stack data competency across coding, database management, and BI reporting.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92238" y="3672335"/>
            <a:ext cx="8027194" cy="2758230"/>
          </a:xfrm>
          <a:custGeom>
            <a:avLst/>
            <a:gdLst/>
            <a:ahLst/>
            <a:cxnLst/>
            <a:rect l="l" t="t" r="r" b="b"/>
            <a:pathLst>
              <a:path w="8027194" h="2758230">
                <a:moveTo>
                  <a:pt x="0" y="0"/>
                </a:moveTo>
                <a:lnTo>
                  <a:pt x="8027194" y="0"/>
                </a:lnTo>
                <a:lnTo>
                  <a:pt x="8027194" y="2758231"/>
                </a:lnTo>
                <a:lnTo>
                  <a:pt x="0" y="275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8" b="-58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06401" y="3850481"/>
            <a:ext cx="398707" cy="498272"/>
            <a:chOff x="0" y="0"/>
            <a:chExt cx="531609" cy="6643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42" r="-11034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531609" cy="664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6618" y="4737945"/>
            <a:ext cx="3787978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Scripting &amp; Collection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6618" y="5245598"/>
            <a:ext cx="7438434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Programmatic data collection and automation using Python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268568" y="3672335"/>
            <a:ext cx="8027194" cy="2758230"/>
          </a:xfrm>
          <a:custGeom>
            <a:avLst/>
            <a:gdLst/>
            <a:ahLst/>
            <a:cxnLst/>
            <a:rect l="l" t="t" r="r" b="b"/>
            <a:pathLst>
              <a:path w="8027194" h="2758230">
                <a:moveTo>
                  <a:pt x="0" y="0"/>
                </a:moveTo>
                <a:lnTo>
                  <a:pt x="8027194" y="0"/>
                </a:lnTo>
                <a:lnTo>
                  <a:pt x="8027194" y="2758231"/>
                </a:lnTo>
                <a:lnTo>
                  <a:pt x="0" y="2758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8" b="-58"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3082740" y="3850481"/>
            <a:ext cx="398707" cy="498272"/>
            <a:chOff x="0" y="0"/>
            <a:chExt cx="531609" cy="6643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42" r="-110341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31609" cy="664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562948" y="4737945"/>
            <a:ext cx="3322587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Cleaning Pipelines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62948" y="5245598"/>
            <a:ext cx="7438434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Automated preprocessing to handle missing values, outliers, and formatting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992238" y="6679702"/>
            <a:ext cx="8027194" cy="2758230"/>
          </a:xfrm>
          <a:custGeom>
            <a:avLst/>
            <a:gdLst/>
            <a:ahLst/>
            <a:cxnLst/>
            <a:rect l="l" t="t" r="r" b="b"/>
            <a:pathLst>
              <a:path w="8027194" h="2758230">
                <a:moveTo>
                  <a:pt x="0" y="0"/>
                </a:moveTo>
                <a:lnTo>
                  <a:pt x="8027194" y="0"/>
                </a:lnTo>
                <a:lnTo>
                  <a:pt x="8027194" y="2758230"/>
                </a:lnTo>
                <a:lnTo>
                  <a:pt x="0" y="275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8" b="-58"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4806401" y="6857848"/>
            <a:ext cx="398707" cy="498272"/>
            <a:chOff x="0" y="0"/>
            <a:chExt cx="531609" cy="66436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42" r="-110341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31609" cy="664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3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86618" y="7745311"/>
            <a:ext cx="3322587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SQL Querying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6618" y="8252965"/>
            <a:ext cx="7438434" cy="890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Relational database querying with multi-table joins and aggregations</a:t>
            </a:r>
          </a:p>
        </p:txBody>
      </p:sp>
      <p:sp>
        <p:nvSpPr>
          <p:cNvPr id="27" name="Freeform 27" descr="preencoded.png"/>
          <p:cNvSpPr/>
          <p:nvPr/>
        </p:nvSpPr>
        <p:spPr>
          <a:xfrm>
            <a:off x="9268568" y="6679702"/>
            <a:ext cx="8027194" cy="2758230"/>
          </a:xfrm>
          <a:custGeom>
            <a:avLst/>
            <a:gdLst/>
            <a:ahLst/>
            <a:cxnLst/>
            <a:rect l="l" t="t" r="r" b="b"/>
            <a:pathLst>
              <a:path w="8027194" h="2758230">
                <a:moveTo>
                  <a:pt x="0" y="0"/>
                </a:moveTo>
                <a:lnTo>
                  <a:pt x="8027194" y="0"/>
                </a:lnTo>
                <a:lnTo>
                  <a:pt x="8027194" y="2758230"/>
                </a:lnTo>
                <a:lnTo>
                  <a:pt x="0" y="27582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8" b="-58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3082740" y="6857848"/>
            <a:ext cx="398707" cy="498272"/>
            <a:chOff x="0" y="0"/>
            <a:chExt cx="531609" cy="66436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1613" cy="664368"/>
            </a:xfrm>
            <a:custGeom>
              <a:avLst/>
              <a:gdLst/>
              <a:ahLst/>
              <a:cxnLst/>
              <a:rect l="l" t="t" r="r" b="b"/>
              <a:pathLst>
                <a:path w="531613" h="664368">
                  <a:moveTo>
                    <a:pt x="0" y="0"/>
                  </a:moveTo>
                  <a:lnTo>
                    <a:pt x="531613" y="0"/>
                  </a:lnTo>
                  <a:lnTo>
                    <a:pt x="531613" y="664368"/>
                  </a:lnTo>
                  <a:lnTo>
                    <a:pt x="0" y="664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0342" r="-110341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31609" cy="664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49495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4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9562948" y="7745311"/>
            <a:ext cx="3322587" cy="424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 Dashboards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62948" y="8252965"/>
            <a:ext cx="7438434" cy="47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6"/>
              </a:lnSpc>
            </a:pPr>
            <a:r>
              <a:rPr lang="en-US" sz="20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Interactive Power BI visualizations driven by DAX measures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1019623"/>
            <a:ext cx="1508970" cy="532800"/>
            <a:chOff x="0" y="0"/>
            <a:chExt cx="2011959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934" cy="710438"/>
            </a:xfrm>
            <a:custGeom>
              <a:avLst/>
              <a:gdLst/>
              <a:ahLst/>
              <a:cxnLst/>
              <a:rect l="l" t="t" r="r" b="b"/>
              <a:pathLst>
                <a:path w="2011934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966595" y="0"/>
                  </a:lnTo>
                  <a:cubicBezTo>
                    <a:pt x="1991614" y="0"/>
                    <a:pt x="2011934" y="20320"/>
                    <a:pt x="2011934" y="45339"/>
                  </a:cubicBezTo>
                  <a:lnTo>
                    <a:pt x="2011934" y="665099"/>
                  </a:lnTo>
                  <a:cubicBezTo>
                    <a:pt x="2011934" y="690118"/>
                    <a:pt x="1991614" y="710438"/>
                    <a:pt x="1966595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6F5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1037930"/>
            <a:ext cx="2083146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CHAPTER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637262"/>
            <a:ext cx="16303523" cy="180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Organization Profile: Anjana Infotech Pvt. Ltd.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8041" y="3862978"/>
            <a:ext cx="6854581" cy="5404247"/>
            <a:chOff x="0" y="0"/>
            <a:chExt cx="9139441" cy="72056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39555" cy="7205725"/>
            </a:xfrm>
            <a:custGeom>
              <a:avLst/>
              <a:gdLst/>
              <a:ahLst/>
              <a:cxnLst/>
              <a:rect l="l" t="t" r="r" b="b"/>
              <a:pathLst>
                <a:path w="9139555" h="7205725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9082786" y="0"/>
                  </a:lnTo>
                  <a:cubicBezTo>
                    <a:pt x="9114155" y="0"/>
                    <a:pt x="9139555" y="25400"/>
                    <a:pt x="9139555" y="56769"/>
                  </a:cubicBezTo>
                  <a:lnTo>
                    <a:pt x="9139555" y="7148957"/>
                  </a:lnTo>
                  <a:cubicBezTo>
                    <a:pt x="9139555" y="7180325"/>
                    <a:pt x="9114155" y="7205725"/>
                    <a:pt x="9082786" y="7205725"/>
                  </a:cubicBezTo>
                  <a:lnTo>
                    <a:pt x="56769" y="7205725"/>
                  </a:lnTo>
                  <a:cubicBezTo>
                    <a:pt x="25400" y="7205725"/>
                    <a:pt x="0" y="7180325"/>
                    <a:pt x="0" y="7148957"/>
                  </a:cubicBezTo>
                  <a:close/>
                </a:path>
              </a:pathLst>
            </a:custGeom>
            <a:solidFill>
              <a:srgbClr val="E7E0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71562" y="4136974"/>
            <a:ext cx="455369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Company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1562" y="4787208"/>
            <a:ext cx="6287538" cy="422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ISO 9001:2015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certified software and training company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Based in Rajapalayam, Tamil Nadu | Founded in 2015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organization blends product engineering with structured upskilling, running technical internship programs in Data Analytics, GenAI, and IoT alongside client work.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9713" y="4136974"/>
            <a:ext cx="44584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Core Service Lines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39713" y="4787208"/>
            <a:ext cx="9165431" cy="2750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Mobile application engineering and deployment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Full-stack web development for enterprise clients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Internet of Things (IoT) integration solutions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Digital marketing and analytics consulting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Technical internship programs — Data Analytics, GenAI, IoT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11748" y="926154"/>
            <a:ext cx="1736379" cy="23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41"/>
              </a:lnSpc>
            </a:pPr>
            <a:r>
              <a:rPr lang="en-US" sz="1200">
                <a:solidFill>
                  <a:srgbClr val="403CCF"/>
                </a:solidFill>
                <a:latin typeface="Open Sans"/>
                <a:ea typeface="Open Sans"/>
                <a:cs typeface="Open Sans"/>
                <a:sym typeface="Open Sans"/>
              </a:rPr>
              <a:t>CHAPTER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259091"/>
            <a:ext cx="11116266" cy="642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7"/>
              </a:lnSpc>
            </a:pPr>
            <a:r>
              <a:rPr lang="en-US" sz="39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Internship Structure — 21-Day Program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092223"/>
            <a:ext cx="17217923" cy="29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Three progressive phases built from foundational scripting to deliverable BI dashboards, with daily hands-on practice in debugging, data cleaning, and dashboard construction.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2540498"/>
            <a:ext cx="16303523" cy="6431756"/>
            <a:chOff x="0" y="0"/>
            <a:chExt cx="21738031" cy="8575675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21738082" cy="8575675"/>
            </a:xfrm>
            <a:custGeom>
              <a:avLst/>
              <a:gdLst/>
              <a:ahLst/>
              <a:cxnLst/>
              <a:rect l="l" t="t" r="r" b="b"/>
              <a:pathLst>
                <a:path w="21738082" h="8575675">
                  <a:moveTo>
                    <a:pt x="0" y="0"/>
                  </a:moveTo>
                  <a:lnTo>
                    <a:pt x="21738082" y="0"/>
                  </a:lnTo>
                  <a:lnTo>
                    <a:pt x="21738082" y="8575675"/>
                  </a:lnTo>
                  <a:lnTo>
                    <a:pt x="0" y="8575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" b="-45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3528460" y="4758471"/>
            <a:ext cx="3243282" cy="89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Python Foundations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528460" y="5804611"/>
            <a:ext cx="3243282" cy="5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OOP, Data Structures &amp; Algorithms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0621" y="5125707"/>
            <a:ext cx="3243282" cy="89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Exploratory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0621" y="6171838"/>
            <a:ext cx="3243282" cy="5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EDA &amp; Data Preprocessing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639845" y="4758471"/>
            <a:ext cx="3243282" cy="892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9"/>
              </a:lnSpc>
            </a:pPr>
            <a:r>
              <a:rPr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Business Intelligence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39845" y="5804611"/>
            <a:ext cx="3243282" cy="572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9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SQL, Power BI, DAX &amp; Dashboards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92238" y="9110815"/>
            <a:ext cx="17217923" cy="29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2"/>
              </a:lnSpc>
            </a:pPr>
            <a:r>
              <a:rPr lang="en-US" sz="15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Each phase reinforced the previous one — programming fundamentals enabled robust data wrangling, which in turn powered accurate, performant BI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2444353"/>
            <a:ext cx="1508970" cy="532800"/>
            <a:chOff x="0" y="0"/>
            <a:chExt cx="2011959" cy="710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11934" cy="710438"/>
            </a:xfrm>
            <a:custGeom>
              <a:avLst/>
              <a:gdLst/>
              <a:ahLst/>
              <a:cxnLst/>
              <a:rect l="l" t="t" r="r" b="b"/>
              <a:pathLst>
                <a:path w="2011934" h="710438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1966595" y="0"/>
                  </a:lnTo>
                  <a:cubicBezTo>
                    <a:pt x="1991614" y="0"/>
                    <a:pt x="2011934" y="20320"/>
                    <a:pt x="2011934" y="45339"/>
                  </a:cubicBezTo>
                  <a:lnTo>
                    <a:pt x="2011934" y="665099"/>
                  </a:lnTo>
                  <a:cubicBezTo>
                    <a:pt x="2011934" y="690118"/>
                    <a:pt x="1991614" y="710438"/>
                    <a:pt x="1966595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D7D6F5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2462660"/>
            <a:ext cx="2083146" cy="429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CHAPTER 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061992"/>
            <a:ext cx="8697668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Tools &amp; Technologies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080424"/>
            <a:ext cx="4993634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End-to-End Toolchain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872333"/>
            <a:ext cx="17217923" cy="539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internship employed a layered technology stack — each tool serving a distinct stage of the analytics pipeline: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644906"/>
            <a:ext cx="16303523" cy="219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Python, NumPy, Pandas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data handling and transformation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Matplotlib, Seaborn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visualization and correlation analysis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SQL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multi-table joins and aggregation queries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Excel &amp; Power BI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— dashboard assembly and DAX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43743" y="917819"/>
            <a:ext cx="1955006" cy="34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1500">
                <a:solidFill>
                  <a:srgbClr val="403CCF"/>
                </a:solidFill>
                <a:latin typeface="Open Sans"/>
                <a:ea typeface="Open Sans"/>
                <a:cs typeface="Open Sans"/>
                <a:sym typeface="Open Sans"/>
              </a:rPr>
              <a:t>CHAPTER 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1407909"/>
            <a:ext cx="9932194" cy="808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5"/>
              </a:lnSpc>
            </a:pPr>
            <a:r>
              <a:rPr lang="en-US" sz="49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Key Outcomes &amp; Highlights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2812856"/>
            <a:ext cx="8011268" cy="69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6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~60%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87151" y="3807619"/>
            <a:ext cx="3621291" cy="39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Reporting Time Saved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279849"/>
            <a:ext cx="8011268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Reduction through interactive Power BI dashboards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284494" y="2812856"/>
            <a:ext cx="8011268" cy="699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3"/>
              </a:lnSpc>
            </a:pPr>
            <a:r>
              <a:rPr lang="en-US" sz="65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711883" y="3807619"/>
            <a:ext cx="3156499" cy="39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Days Immersive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84494" y="4279849"/>
            <a:ext cx="8011268" cy="43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End-to-end pipeline and BI development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4914748"/>
            <a:ext cx="16303523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Beyond the headline metrics, the internship produced four tangible deliverables — each demonstrating a distinct analytical competency applied to real-world transactional data.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963663" y="5960116"/>
            <a:ext cx="8039843" cy="1732207"/>
          </a:xfrm>
          <a:custGeom>
            <a:avLst/>
            <a:gdLst/>
            <a:ahLst/>
            <a:cxnLst/>
            <a:rect l="l" t="t" r="r" b="b"/>
            <a:pathLst>
              <a:path w="8039843" h="1732207">
                <a:moveTo>
                  <a:pt x="0" y="0"/>
                </a:moveTo>
                <a:lnTo>
                  <a:pt x="8039843" y="0"/>
                </a:lnTo>
                <a:lnTo>
                  <a:pt x="8039843" y="1732207"/>
                </a:lnTo>
                <a:lnTo>
                  <a:pt x="0" y="173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" r="-1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01801" y="5988691"/>
            <a:ext cx="4530481" cy="39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Automated Cleaning Scripts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1801" y="6460922"/>
            <a:ext cx="7701705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Built reusable Python pipelines for raw transactional data, standardizing formats and handling anomalies efficiently.</a:t>
            </a:r>
          </a:p>
        </p:txBody>
      </p:sp>
      <p:sp>
        <p:nvSpPr>
          <p:cNvPr id="18" name="Freeform 18" descr="preencoded.png"/>
          <p:cNvSpPr/>
          <p:nvPr/>
        </p:nvSpPr>
        <p:spPr>
          <a:xfrm>
            <a:off x="9255919" y="5960116"/>
            <a:ext cx="8039843" cy="1732207"/>
          </a:xfrm>
          <a:custGeom>
            <a:avLst/>
            <a:gdLst/>
            <a:ahLst/>
            <a:cxnLst/>
            <a:rect l="l" t="t" r="r" b="b"/>
            <a:pathLst>
              <a:path w="8039843" h="1732207">
                <a:moveTo>
                  <a:pt x="0" y="0"/>
                </a:moveTo>
                <a:lnTo>
                  <a:pt x="8039843" y="0"/>
                </a:lnTo>
                <a:lnTo>
                  <a:pt x="8039843" y="1732207"/>
                </a:lnTo>
                <a:lnTo>
                  <a:pt x="0" y="1732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" r="-15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594056" y="5988691"/>
            <a:ext cx="3727847" cy="39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Interactive Dashboards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94056" y="6460922"/>
            <a:ext cx="7701705" cy="1202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Designed Power BI dashboards that cut reporting turnaround time by approximately 60% through automated refresh and DAX-driven measures.</a:t>
            </a:r>
          </a:p>
        </p:txBody>
      </p:sp>
      <p:sp>
        <p:nvSpPr>
          <p:cNvPr id="21" name="Freeform 21" descr="preencoded.png"/>
          <p:cNvSpPr/>
          <p:nvPr/>
        </p:nvSpPr>
        <p:spPr>
          <a:xfrm>
            <a:off x="963663" y="8084944"/>
            <a:ext cx="8039843" cy="1350321"/>
          </a:xfrm>
          <a:custGeom>
            <a:avLst/>
            <a:gdLst/>
            <a:ahLst/>
            <a:cxnLst/>
            <a:rect l="l" t="t" r="r" b="b"/>
            <a:pathLst>
              <a:path w="8039843" h="1350321">
                <a:moveTo>
                  <a:pt x="0" y="0"/>
                </a:moveTo>
                <a:lnTo>
                  <a:pt x="8039843" y="0"/>
                </a:lnTo>
                <a:lnTo>
                  <a:pt x="8039843" y="1350321"/>
                </a:lnTo>
                <a:lnTo>
                  <a:pt x="0" y="135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8" b="-27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01801" y="8113509"/>
            <a:ext cx="3928167" cy="39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Optimized SQL Queries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01801" y="8585749"/>
            <a:ext cx="7701705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Tuned multi-table joins and aggregations for faster retrieval, reducing runtime on large relational datasets.</a:t>
            </a:r>
          </a:p>
        </p:txBody>
      </p:sp>
      <p:sp>
        <p:nvSpPr>
          <p:cNvPr id="24" name="Freeform 24" descr="preencoded.png"/>
          <p:cNvSpPr/>
          <p:nvPr/>
        </p:nvSpPr>
        <p:spPr>
          <a:xfrm>
            <a:off x="9255919" y="8084944"/>
            <a:ext cx="8039843" cy="1350321"/>
          </a:xfrm>
          <a:custGeom>
            <a:avLst/>
            <a:gdLst/>
            <a:ahLst/>
            <a:cxnLst/>
            <a:rect l="l" t="t" r="r" b="b"/>
            <a:pathLst>
              <a:path w="8039843" h="1350321">
                <a:moveTo>
                  <a:pt x="0" y="0"/>
                </a:moveTo>
                <a:lnTo>
                  <a:pt x="8039843" y="0"/>
                </a:lnTo>
                <a:lnTo>
                  <a:pt x="8039843" y="1350321"/>
                </a:lnTo>
                <a:lnTo>
                  <a:pt x="0" y="13503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8" b="-27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9594056" y="8113509"/>
            <a:ext cx="3216773" cy="394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400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Star Schema Design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94056" y="8585749"/>
            <a:ext cx="7701705" cy="820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9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Applied dimensional modeling to ensure accurate, performant relationships within dashboard semantic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4F0F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BFA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1884912"/>
            <a:ext cx="10883951" cy="91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Conclusion &amp; Future Scope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88041" y="3224660"/>
            <a:ext cx="8214274" cy="5148863"/>
            <a:chOff x="0" y="0"/>
            <a:chExt cx="10952366" cy="6865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952480" cy="6865238"/>
            </a:xfrm>
            <a:custGeom>
              <a:avLst/>
              <a:gdLst/>
              <a:ahLst/>
              <a:cxnLst/>
              <a:rect l="l" t="t" r="r" b="b"/>
              <a:pathLst>
                <a:path w="10952480" h="6865238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711" y="0"/>
                  </a:lnTo>
                  <a:cubicBezTo>
                    <a:pt x="10927080" y="0"/>
                    <a:pt x="10952480" y="25400"/>
                    <a:pt x="10952480" y="56769"/>
                  </a:cubicBezTo>
                  <a:lnTo>
                    <a:pt x="10952480" y="6808470"/>
                  </a:lnTo>
                  <a:cubicBezTo>
                    <a:pt x="10952480" y="6839838"/>
                    <a:pt x="10927080" y="6865238"/>
                    <a:pt x="10895711" y="6865238"/>
                  </a:cubicBezTo>
                  <a:lnTo>
                    <a:pt x="56769" y="6865238"/>
                  </a:lnTo>
                  <a:cubicBezTo>
                    <a:pt x="25400" y="6865238"/>
                    <a:pt x="0" y="6839838"/>
                    <a:pt x="0" y="6808470"/>
                  </a:cubicBezTo>
                  <a:close/>
                </a:path>
              </a:pathLst>
            </a:custGeom>
            <a:solidFill>
              <a:srgbClr val="403CC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071562" y="3498647"/>
            <a:ext cx="4499820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What Was Achieved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562" y="4148880"/>
            <a:ext cx="7647232" cy="2864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End-to-end exposure:</a:t>
            </a:r>
          </a:p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From coding and data pipelines through to BI reporting, the internship forged a strong foundation in industry-grade analytical workflows.</a:t>
            </a:r>
          </a:p>
          <a:p>
            <a:pPr algn="l">
              <a:lnSpc>
                <a:spcPts val="3511"/>
              </a:lnSpc>
            </a:pPr>
            <a:r>
              <a:rPr lang="en-US" sz="22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Deliverables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1562" y="7182298"/>
            <a:ext cx="7647232" cy="1092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Cleaning scripts and optimized queries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Dimensional models and dashboards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406" y="3498647"/>
            <a:ext cx="4458443" cy="45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Direction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406" y="4148880"/>
            <a:ext cx="7805890" cy="992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The next phase of growth focuses on scaling toward real-time and predictive analytics: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406" y="5311226"/>
            <a:ext cx="7805890" cy="199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Real-time data streaming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using AWS and BigQuery for live ingestion and processing</a:t>
            </a:r>
          </a:p>
          <a:p>
            <a:pPr marL="530860" lvl="1" indent="-265430" algn="l">
              <a:lnSpc>
                <a:spcPts val="3511"/>
              </a:lnSpc>
              <a:buFont typeface="Arial"/>
              <a:buChar char="•"/>
            </a:pPr>
            <a:r>
              <a:rPr lang="en-US" sz="2200" b="1">
                <a:solidFill>
                  <a:srgbClr val="49495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Predictive modeling</a:t>
            </a:r>
            <a:r>
              <a:rPr lang="en-US" sz="2200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 with machine learning to move from descriptive to prescriptive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Custom</PresentationFormat>
  <Paragraphs>79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Open Sans Bold</vt:lpstr>
      <vt:lpstr>Arial</vt:lpstr>
      <vt:lpstr>Libre Baskerville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SRIRAM S 24BDA060</dc:title>
  <cp:lastModifiedBy>ragulsrikannan@gmail.com</cp:lastModifiedBy>
  <cp:revision>2</cp:revision>
  <dcterms:created xsi:type="dcterms:W3CDTF">2006-08-16T00:00:00Z</dcterms:created>
  <dcterms:modified xsi:type="dcterms:W3CDTF">2026-10-14T02:40:27Z</dcterms:modified>
  <dc:identifier>DAHOiA3V3hg</dc:identifier>
</cp:coreProperties>
</file>